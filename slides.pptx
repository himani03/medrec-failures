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snapToObjects="1">
      <p:cViewPr varScale="1">
        <p:scale>
          <a:sx n="119" d="100"/>
          <a:sy n="119" d="100"/>
        </p:scale>
        <p:origin x="5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3521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tested one clinical task, medication reconciliation: read a note and write the patient's current medication list. I used a small open model that runs on a laptop, and found two different, reproducible ways it gets the list wrong. I checked both on gpt-5.4-mini. To be clear on scope: these are controlled tests on transcribed MTSamples notes, each with one edit I made. They show what causes each error, not how often it happens in a hospital.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experiment takes a real note and changes exactly one thing, like adding 'Continue X' versus 'Discontinue X'. Because both versions use the same notes, any difference comes from that one change.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notes, one word changed. With 'continue' the model never drops the drug. With 'discontinue' it keeps the stopped drug in 42% of notes. It holds with a different prompt and on gpt-5.4-mini at a lower rate. The right panel is the mechanism: it only works when the stop comes before the list or sits on the drug's line.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medication list sits about a third of the way into a note. If the stop sentence comes before the list, or is attached to the drug's own line, errors halve. Anywhere after the list, they stay high.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notes, same drug, only its position changes. With the example in the prompt, the first drug is lost twice as often. Take the example out and the position effect disappears. In 9 cases the example's drug literally replaced the patient's first drug. My first guess was the bottom of the list; the data said otherwise.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Removing the example is a direct causal test. Swapping its drugs shows the invented drugs follow the example.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reviewer may ask if these are the same thing, since both change the list. They aren't: different cause, different direction of error, different fix, and they split across models.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Negative results and bugs are part of the evidence that the positive results are real.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 careful not to claim prevalence. These are controlled tests that show cause.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p:cNvSpPr txBox="1"/>
          <p:nvPr/>
        </p:nvSpPr>
        <p:spPr>
          <a:xfrm>
            <a:off x="731520" y="1280160"/>
            <a:ext cx="10058400" cy="457200"/>
          </a:xfrm>
          <a:prstGeom prst="rect">
            <a:avLst/>
          </a:prstGeom>
          <a:noFill/>
        </p:spPr>
        <p:txBody>
          <a:bodyPr wrap="square">
            <a:spAutoFit/>
          </a:bodyPr>
          <a:lstStyle/>
          <a:p>
            <a:pPr>
              <a:spcAft>
                <a:spcPts val="800"/>
              </a:spcAft>
            </a:pPr>
            <a:r>
              <a:rPr sz="1400" b="1">
                <a:solidFill>
                  <a:srgbClr val="E8A27C"/>
                </a:solidFill>
                <a:latin typeface="Arial"/>
              </a:rPr>
              <a:t>ALTERRA LABS · APPLIED RESEARCH TAKE-HOME</a:t>
            </a:r>
          </a:p>
        </p:txBody>
      </p:sp>
      <p:sp>
        <p:nvSpPr>
          <p:cNvPr id="3" name="TextBox 2"/>
          <p:cNvSpPr txBox="1"/>
          <p:nvPr/>
        </p:nvSpPr>
        <p:spPr>
          <a:xfrm>
            <a:off x="731520" y="1828800"/>
            <a:ext cx="10515600" cy="1828800"/>
          </a:xfrm>
          <a:prstGeom prst="rect">
            <a:avLst/>
          </a:prstGeom>
          <a:noFill/>
        </p:spPr>
        <p:txBody>
          <a:bodyPr wrap="square">
            <a:spAutoFit/>
          </a:bodyPr>
          <a:lstStyle/>
          <a:p>
            <a:pPr>
              <a:spcAft>
                <a:spcPts val="800"/>
              </a:spcAft>
            </a:pPr>
            <a:r>
              <a:rPr sz="4400" b="1">
                <a:solidFill>
                  <a:srgbClr val="FBFBF8"/>
                </a:solidFill>
                <a:latin typeface="Arial"/>
              </a:rPr>
              <a:t>Two ways a small LLM gets a patient’s medication list wrong</a:t>
            </a:r>
          </a:p>
        </p:txBody>
      </p:sp>
      <p:sp>
        <p:nvSpPr>
          <p:cNvPr id="4" name="TextBox 3"/>
          <p:cNvSpPr txBox="1"/>
          <p:nvPr/>
        </p:nvSpPr>
        <p:spPr>
          <a:xfrm>
            <a:off x="731520" y="3931920"/>
            <a:ext cx="10515600" cy="731520"/>
          </a:xfrm>
          <a:prstGeom prst="rect">
            <a:avLst/>
          </a:prstGeom>
          <a:noFill/>
        </p:spPr>
        <p:txBody>
          <a:bodyPr wrap="square">
            <a:spAutoFit/>
          </a:bodyPr>
          <a:lstStyle/>
          <a:p>
            <a:pPr>
              <a:spcAft>
                <a:spcPts val="800"/>
              </a:spcAft>
            </a:pPr>
            <a:r>
              <a:rPr sz="2000" b="0">
                <a:solidFill>
                  <a:srgbClr val="C9D3E0"/>
                </a:solidFill>
                <a:latin typeface="Arial"/>
              </a:rPr>
              <a:t>Medication reconciliation · qwen2.5:3b (local), checked on gpt-5.4-mini</a:t>
            </a:r>
          </a:p>
        </p:txBody>
      </p:sp>
      <p:sp>
        <p:nvSpPr>
          <p:cNvPr id="5" name="TextBox 4"/>
          <p:cNvSpPr txBox="1"/>
          <p:nvPr/>
        </p:nvSpPr>
        <p:spPr>
          <a:xfrm>
            <a:off x="731520" y="4480560"/>
            <a:ext cx="10515600" cy="457200"/>
          </a:xfrm>
          <a:prstGeom prst="rect">
            <a:avLst/>
          </a:prstGeom>
          <a:noFill/>
        </p:spPr>
        <p:txBody>
          <a:bodyPr wrap="square">
            <a:spAutoFit/>
          </a:bodyPr>
          <a:lstStyle/>
          <a:p>
            <a:pPr>
              <a:spcAft>
                <a:spcPts val="800"/>
              </a:spcAft>
            </a:pPr>
            <a:r>
              <a:rPr sz="1600" b="0">
                <a:solidFill>
                  <a:srgbClr val="E8A27C"/>
                </a:solidFill>
                <a:latin typeface="Arial"/>
              </a:rPr>
              <a:t>Controlled tests: real notes + one synthetic edit each. Shows cause, not hospital frequency.</a:t>
            </a:r>
          </a:p>
        </p:txBody>
      </p:sp>
      <p:sp>
        <p:nvSpPr>
          <p:cNvPr id="6" name="TextBox 5"/>
          <p:cNvSpPr txBox="1"/>
          <p:nvPr/>
        </p:nvSpPr>
        <p:spPr>
          <a:xfrm>
            <a:off x="731520" y="5212080"/>
            <a:ext cx="7315200" cy="369332"/>
          </a:xfrm>
          <a:prstGeom prst="rect">
            <a:avLst/>
          </a:prstGeom>
          <a:noFill/>
        </p:spPr>
        <p:txBody>
          <a:bodyPr wrap="square">
            <a:spAutoFit/>
          </a:bodyPr>
          <a:lstStyle/>
          <a:p>
            <a:pPr>
              <a:spcAft>
                <a:spcPts val="800"/>
              </a:spcAft>
            </a:pPr>
            <a:r>
              <a:rPr sz="1800" b="0">
                <a:solidFill>
                  <a:srgbClr val="C9D3E0"/>
                </a:solidFill>
                <a:latin typeface="Arial"/>
              </a:rPr>
              <a:t>Himani Shah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822960"/>
          </a:xfrm>
          <a:prstGeom prst="rect">
            <a:avLst/>
          </a:prstGeom>
          <a:noFill/>
        </p:spPr>
        <p:txBody>
          <a:bodyPr wrap="square">
            <a:spAutoFit/>
          </a:bodyPr>
          <a:lstStyle/>
          <a:p>
            <a:pPr>
              <a:spcAft>
                <a:spcPts val="800"/>
              </a:spcAft>
            </a:pPr>
            <a:r>
              <a:rPr sz="3000" b="1">
                <a:solidFill>
                  <a:srgbClr val="14213D"/>
                </a:solidFill>
                <a:latin typeface="Arial"/>
              </a:rPr>
              <a:t>Task, model, data: change one thing, compare on the same notes</a:t>
            </a:r>
          </a:p>
        </p:txBody>
      </p:sp>
      <p:pic>
        <p:nvPicPr>
          <p:cNvPr id="3" name="Picture 2" descr="workflow.png"/>
          <p:cNvPicPr>
            <a:picLocks noChangeAspect="1"/>
          </p:cNvPicPr>
          <p:nvPr/>
        </p:nvPicPr>
        <p:blipFill>
          <a:blip r:embed="rId3"/>
          <a:stretch>
            <a:fillRect/>
          </a:stretch>
        </p:blipFill>
        <p:spPr>
          <a:xfrm>
            <a:off x="548640" y="1280160"/>
            <a:ext cx="11064240" cy="2675862"/>
          </a:xfrm>
          <a:prstGeom prst="rect">
            <a:avLst/>
          </a:prstGeom>
        </p:spPr>
      </p:pic>
      <p:sp>
        <p:nvSpPr>
          <p:cNvPr id="4" name="TextBox 3"/>
          <p:cNvSpPr txBox="1"/>
          <p:nvPr/>
        </p:nvSpPr>
        <p:spPr>
          <a:xfrm>
            <a:off x="548640" y="4480560"/>
            <a:ext cx="11064240" cy="2011680"/>
          </a:xfrm>
          <a:prstGeom prst="rect">
            <a:avLst/>
          </a:prstGeom>
          <a:noFill/>
        </p:spPr>
        <p:txBody>
          <a:bodyPr wrap="square">
            <a:spAutoFit/>
          </a:bodyPr>
          <a:lstStyle/>
          <a:p>
            <a:pPr>
              <a:spcAft>
                <a:spcPts val="800"/>
              </a:spcAft>
            </a:pPr>
            <a:r>
              <a:rPr sz="1700" b="0">
                <a:solidFill>
                  <a:srgbClr val="4A5568"/>
                </a:solidFill>
                <a:latin typeface="Arial"/>
              </a:rPr>
              <a:t>Model: qwen2.5:3b, 3.1B parameters, runs on a laptop (realistic for privacy-limited clinics). Comparison: gpt-5.4-mini.</a:t>
            </a:r>
          </a:p>
          <a:p>
            <a:pPr>
              <a:spcAft>
                <a:spcPts val="800"/>
              </a:spcAft>
            </a:pPr>
            <a:r>
              <a:rPr sz="1700" b="0">
                <a:solidFill>
                  <a:srgbClr val="4A5568"/>
                </a:solidFill>
                <a:latin typeface="Arial"/>
              </a:rPr>
              <a:t>Data: 148 real MTSamples notes with a medication list. Every test = the real note + ONE controlled edit.</a:t>
            </a:r>
          </a:p>
          <a:p>
            <a:pPr>
              <a:spcAft>
                <a:spcPts val="800"/>
              </a:spcAft>
            </a:pPr>
            <a:r>
              <a:rPr sz="1700" b="0">
                <a:solidFill>
                  <a:srgbClr val="4A5568"/>
                </a:solidFill>
                <a:latin typeface="Arial"/>
              </a:rPr>
              <a:t>Stats: per-note error rates, 95% Wilson intervals, paired McNemar tests. 48 unit tests on the scorer.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822960"/>
          </a:xfrm>
          <a:prstGeom prst="rect">
            <a:avLst/>
          </a:prstGeom>
          <a:noFill/>
        </p:spPr>
        <p:txBody>
          <a:bodyPr wrap="square">
            <a:spAutoFit/>
          </a:bodyPr>
          <a:lstStyle/>
          <a:p>
            <a:pPr>
              <a:spcAft>
                <a:spcPts val="800"/>
              </a:spcAft>
            </a:pPr>
            <a:r>
              <a:rPr sz="3000" b="1">
                <a:solidFill>
                  <a:srgbClr val="14213D"/>
                </a:solidFill>
                <a:latin typeface="Arial"/>
              </a:rPr>
              <a:t>Failure 1: the model understands “discontinue” but doesn’t apply it</a:t>
            </a:r>
          </a:p>
        </p:txBody>
      </p:sp>
      <p:sp>
        <p:nvSpPr>
          <p:cNvPr id="3" name="TextBox 2"/>
          <p:cNvSpPr txBox="1"/>
          <p:nvPr/>
        </p:nvSpPr>
        <p:spPr>
          <a:xfrm>
            <a:off x="548640" y="1271748"/>
            <a:ext cx="11064240" cy="1005840"/>
          </a:xfrm>
          <a:prstGeom prst="rect">
            <a:avLst/>
          </a:prstGeom>
          <a:noFill/>
        </p:spPr>
        <p:txBody>
          <a:bodyPr wrap="square">
            <a:spAutoFit/>
          </a:bodyPr>
          <a:lstStyle/>
          <a:p>
            <a:pPr>
              <a:spcAft>
                <a:spcPts val="800"/>
              </a:spcAft>
            </a:pPr>
            <a:r>
              <a:rPr sz="2100" b="1">
                <a:solidFill>
                  <a:srgbClr val="14213D"/>
                </a:solidFill>
                <a:latin typeface="Arial"/>
              </a:rPr>
              <a:t>When the note says “Discontinue X”, qwen 3b still lists X as active in 21/50 (42%) of notes. With “Continue X” instead: 0/50 errors. Same notes, one word changed.</a:t>
            </a:r>
          </a:p>
        </p:txBody>
      </p:sp>
      <p:pic>
        <p:nvPicPr>
          <p:cNvPr id="4" name="Picture 3" descr="failure1_story.png"/>
          <p:cNvPicPr>
            <a:picLocks noChangeAspect="1"/>
          </p:cNvPicPr>
          <p:nvPr/>
        </p:nvPicPr>
        <p:blipFill>
          <a:blip r:embed="rId3"/>
          <a:stretch>
            <a:fillRect/>
          </a:stretch>
        </p:blipFill>
        <p:spPr>
          <a:xfrm>
            <a:off x="548640" y="2148840"/>
            <a:ext cx="11064240" cy="3894612"/>
          </a:xfrm>
          <a:prstGeom prst="rect">
            <a:avLst/>
          </a:prstGeom>
        </p:spPr>
      </p:pic>
      <p:sp>
        <p:nvSpPr>
          <p:cNvPr id="5" name="TextBox 4"/>
          <p:cNvSpPr txBox="1"/>
          <p:nvPr/>
        </p:nvSpPr>
        <p:spPr>
          <a:xfrm>
            <a:off x="548640" y="6126480"/>
            <a:ext cx="11064240" cy="457200"/>
          </a:xfrm>
          <a:prstGeom prst="rect">
            <a:avLst/>
          </a:prstGeom>
          <a:noFill/>
        </p:spPr>
        <p:txBody>
          <a:bodyPr wrap="square">
            <a:spAutoFit/>
          </a:bodyPr>
          <a:lstStyle/>
          <a:p>
            <a:pPr>
              <a:spcAft>
                <a:spcPts val="800"/>
              </a:spcAft>
            </a:pPr>
            <a:r>
              <a:rPr sz="1500" b="0">
                <a:solidFill>
                  <a:srgbClr val="4A5568"/>
                </a:solidFill>
                <a:latin typeface="Arial"/>
              </a:rPr>
              <a:t>Also on gpt-5.4-mini (3/50 (6%)).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822960"/>
          </a:xfrm>
          <a:prstGeom prst="rect">
            <a:avLst/>
          </a:prstGeom>
          <a:noFill/>
        </p:spPr>
        <p:txBody>
          <a:bodyPr wrap="square">
            <a:spAutoFit/>
          </a:bodyPr>
          <a:lstStyle/>
          <a:p>
            <a:pPr>
              <a:spcAft>
                <a:spcPts val="800"/>
              </a:spcAft>
            </a:pPr>
            <a:r>
              <a:rPr sz="3000" b="1">
                <a:solidFill>
                  <a:srgbClr val="14213D"/>
                </a:solidFill>
                <a:latin typeface="Arial"/>
              </a:rPr>
              <a:t>Why: instructions that come after the list aren’t carried back</a:t>
            </a:r>
          </a:p>
        </p:txBody>
      </p:sp>
      <p:sp>
        <p:nvSpPr>
          <p:cNvPr id="3" name="TextBox 2"/>
          <p:cNvSpPr txBox="1"/>
          <p:nvPr/>
        </p:nvSpPr>
        <p:spPr>
          <a:xfrm>
            <a:off x="548640" y="1188720"/>
            <a:ext cx="11064240" cy="5120640"/>
          </a:xfrm>
          <a:prstGeom prst="rect">
            <a:avLst/>
          </a:prstGeom>
          <a:noFill/>
        </p:spPr>
        <p:txBody>
          <a:bodyPr wrap="square">
            <a:spAutoFit/>
          </a:bodyPr>
          <a:lstStyle/>
          <a:p>
            <a:pPr>
              <a:spcAft>
                <a:spcPts val="800"/>
              </a:spcAft>
            </a:pPr>
            <a:r>
              <a:rPr sz="2200" b="0">
                <a:solidFill>
                  <a:srgbClr val="4A5568"/>
                </a:solidFill>
                <a:latin typeface="Arial"/>
              </a:rPr>
              <a:t>Hypothesis: the model copies the medication section top to bottom. A stop it meets later has to “reach back”, and often doesn’t.</a:t>
            </a:r>
          </a:p>
          <a:p>
            <a:pPr>
              <a:spcAft>
                <a:spcPts val="800"/>
              </a:spcAft>
            </a:pPr>
            <a:r>
              <a:rPr sz="2200" b="0">
                <a:solidFill>
                  <a:srgbClr val="4A5568"/>
                </a:solidFill>
                <a:latin typeface="Arial"/>
              </a:rPr>
              <a:t>Move the same sentence: before the list 11/50 (22%), on the drug’s line 10/50 (20%), after the list 36–44%.</a:t>
            </a:r>
          </a:p>
          <a:p>
            <a:pPr>
              <a:spcAft>
                <a:spcPts val="800"/>
              </a:spcAft>
            </a:pPr>
            <a:r>
              <a:rPr sz="2200" b="0">
                <a:solidFill>
                  <a:srgbClr val="4A5568"/>
                </a:solidFill>
                <a:latin typeface="Arial"/>
              </a:rPr>
              <a:t>It knows: asked directly, it says “stop it” in 16 of 21 failures.</a:t>
            </a:r>
          </a:p>
          <a:p>
            <a:pPr>
              <a:spcAft>
                <a:spcPts val="800"/>
              </a:spcAft>
            </a:pPr>
            <a:r>
              <a:rPr sz="2200" b="0">
                <a:solidFill>
                  <a:srgbClr val="4A5568"/>
                </a:solidFill>
                <a:latin typeface="Arial"/>
              </a:rPr>
              <a:t>Two-step prompt: it writes “Discontinue X”, then lists X anyway (11 of 18 failures).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822960"/>
          </a:xfrm>
          <a:prstGeom prst="rect">
            <a:avLst/>
          </a:prstGeom>
          <a:noFill/>
        </p:spPr>
        <p:txBody>
          <a:bodyPr wrap="square">
            <a:spAutoFit/>
          </a:bodyPr>
          <a:lstStyle/>
          <a:p>
            <a:pPr>
              <a:spcAft>
                <a:spcPts val="800"/>
              </a:spcAft>
            </a:pPr>
            <a:r>
              <a:rPr sz="3000" b="1">
                <a:solidFill>
                  <a:srgbClr val="14213D"/>
                </a:solidFill>
                <a:latin typeface="Arial"/>
              </a:rPr>
              <a:t>Failure 2: a format example in the prompt pushes the first drug off the list</a:t>
            </a:r>
          </a:p>
        </p:txBody>
      </p:sp>
      <p:sp>
        <p:nvSpPr>
          <p:cNvPr id="3" name="TextBox 2"/>
          <p:cNvSpPr txBox="1"/>
          <p:nvPr/>
        </p:nvSpPr>
        <p:spPr>
          <a:xfrm>
            <a:off x="548640" y="1280160"/>
            <a:ext cx="11064240" cy="1097280"/>
          </a:xfrm>
          <a:prstGeom prst="rect">
            <a:avLst/>
          </a:prstGeom>
          <a:noFill/>
        </p:spPr>
        <p:txBody>
          <a:bodyPr wrap="square">
            <a:spAutoFit/>
          </a:bodyPr>
          <a:lstStyle/>
          <a:p>
            <a:pPr>
              <a:spcAft>
                <a:spcPts val="800"/>
              </a:spcAft>
            </a:pPr>
            <a:r>
              <a:rPr sz="2000" b="1">
                <a:solidFill>
                  <a:srgbClr val="14213D"/>
                </a:solidFill>
                <a:latin typeface="Arial"/>
              </a:rPr>
              <a:t>With a one-line example in the prompt, the patient’s FIRST drug goes missing in 42/134 (31%) of notes, against 22/134 (16%) when the same drug is last (p = 0.003). Remove the example: top 21/134 (16%) vs bottom 20/134 (15%), p = 1.0.</a:t>
            </a:r>
          </a:p>
        </p:txBody>
      </p:sp>
      <p:pic>
        <p:nvPicPr>
          <p:cNvPr id="4" name="Picture 3" descr="failure2_story.png"/>
          <p:cNvPicPr>
            <a:picLocks noChangeAspect="1"/>
          </p:cNvPicPr>
          <p:nvPr/>
        </p:nvPicPr>
        <p:blipFill>
          <a:blip r:embed="rId3"/>
          <a:stretch>
            <a:fillRect/>
          </a:stretch>
        </p:blipFill>
        <p:spPr>
          <a:xfrm>
            <a:off x="548640" y="2240280"/>
            <a:ext cx="9013371" cy="4206240"/>
          </a:xfrm>
          <a:prstGeom prst="rect">
            <a:avLst/>
          </a:prstGeom>
        </p:spPr>
      </p:pic>
      <p:sp>
        <p:nvSpPr>
          <p:cNvPr id="5" name="TextBox 4"/>
          <p:cNvSpPr txBox="1"/>
          <p:nvPr/>
        </p:nvSpPr>
        <p:spPr>
          <a:xfrm>
            <a:off x="9692640" y="2377440"/>
            <a:ext cx="2194560" cy="4023360"/>
          </a:xfrm>
          <a:prstGeom prst="rect">
            <a:avLst/>
          </a:prstGeom>
          <a:noFill/>
        </p:spPr>
        <p:txBody>
          <a:bodyPr wrap="square">
            <a:spAutoFit/>
          </a:bodyPr>
          <a:lstStyle/>
          <a:p>
            <a:pPr>
              <a:spcAft>
                <a:spcPts val="800"/>
              </a:spcAft>
            </a:pPr>
            <a:r>
              <a:rPr sz="1500" b="0">
                <a:solidFill>
                  <a:srgbClr val="4A5568"/>
                </a:solidFill>
                <a:latin typeface="Arial"/>
              </a:rPr>
              <a:t>Example (mts_3291): note starts “Glipizide 10 mg…”; model writes “Lopressor 50 mg” first, and Glipizide is gone.</a:t>
            </a:r>
          </a:p>
          <a:p>
            <a:pPr>
              <a:spcAft>
                <a:spcPts val="800"/>
              </a:spcAft>
            </a:pPr>
            <a:r>
              <a:rPr sz="1500" b="0">
                <a:solidFill>
                  <a:srgbClr val="4A5568"/>
                </a:solidFill>
                <a:latin typeface="Arial"/>
              </a:rPr>
              <a:t>gpt-5.4-mini: 0/58 dropped.</a:t>
            </a:r>
          </a:p>
          <a:p>
            <a:pPr>
              <a:spcAft>
                <a:spcPts val="800"/>
              </a:spcAft>
            </a:pPr>
            <a:r>
              <a:rPr sz="1500" b="0">
                <a:solidFill>
                  <a:srgbClr val="4A5568"/>
                </a:solidFill>
                <a:latin typeface="Arial"/>
              </a:rPr>
              <a:t>Harm: an active drug stops; an invented one starts.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822960"/>
          </a:xfrm>
          <a:prstGeom prst="rect">
            <a:avLst/>
          </a:prstGeom>
          <a:noFill/>
        </p:spPr>
        <p:txBody>
          <a:bodyPr wrap="square">
            <a:spAutoFit/>
          </a:bodyPr>
          <a:lstStyle/>
          <a:p>
            <a:pPr>
              <a:spcAft>
                <a:spcPts val="800"/>
              </a:spcAft>
            </a:pPr>
            <a:r>
              <a:rPr sz="3000" b="1">
                <a:solidFill>
                  <a:srgbClr val="14213D"/>
                </a:solidFill>
                <a:latin typeface="Arial"/>
              </a:rPr>
              <a:t>Why: the example competes for the answer’s first slot</a:t>
            </a:r>
          </a:p>
        </p:txBody>
      </p:sp>
      <p:sp>
        <p:nvSpPr>
          <p:cNvPr id="3" name="TextBox 2"/>
          <p:cNvSpPr txBox="1"/>
          <p:nvPr/>
        </p:nvSpPr>
        <p:spPr>
          <a:xfrm>
            <a:off x="548640" y="1188720"/>
            <a:ext cx="11064240" cy="5120640"/>
          </a:xfrm>
          <a:prstGeom prst="rect">
            <a:avLst/>
          </a:prstGeom>
          <a:noFill/>
        </p:spPr>
        <p:txBody>
          <a:bodyPr wrap="square">
            <a:spAutoFit/>
          </a:bodyPr>
          <a:lstStyle/>
          <a:p>
            <a:pPr>
              <a:spcAft>
                <a:spcPts val="800"/>
              </a:spcAft>
            </a:pPr>
            <a:r>
              <a:rPr sz="2200" b="0">
                <a:solidFill>
                  <a:srgbClr val="4A5568"/>
                </a:solidFill>
                <a:latin typeface="Arial"/>
              </a:rPr>
              <a:t>My first guess was wrong: I expected the bottom of long lists. The data said the top (31% vs 16%).</a:t>
            </a:r>
          </a:p>
          <a:p>
            <a:pPr>
              <a:spcAft>
                <a:spcPts val="800"/>
              </a:spcAft>
            </a:pPr>
            <a:r>
              <a:rPr sz="2200" b="0">
                <a:solidFill>
                  <a:srgbClr val="4A5568"/>
                </a:solidFill>
                <a:latin typeface="Arial"/>
              </a:rPr>
              <a:t>Clue: in 9 of 42 top drops, the answer starts with “Lopressor”, the example’s drug, which isn’t in the note.</a:t>
            </a:r>
          </a:p>
          <a:p>
            <a:pPr>
              <a:spcAft>
                <a:spcPts val="800"/>
              </a:spcAft>
            </a:pPr>
            <a:r>
              <a:rPr sz="2200" b="0">
                <a:solidFill>
                  <a:srgbClr val="4A5568"/>
                </a:solidFill>
                <a:latin typeface="Arial"/>
              </a:rPr>
              <a:t>Test: remove only the example. Lost only with example 27 vs only without 6 (p = 0.0003). Position effect gone.</a:t>
            </a:r>
          </a:p>
          <a:p>
            <a:pPr>
              <a:spcAft>
                <a:spcPts val="800"/>
              </a:spcAft>
            </a:pPr>
            <a:r>
              <a:rPr sz="2200" b="0">
                <a:solidFill>
                  <a:srgbClr val="4A5568"/>
                </a:solidFill>
                <a:latin typeface="Arial"/>
              </a:rPr>
              <a:t>Fix: no in-prompt example, or check every output drug appears in the note.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822960"/>
          </a:xfrm>
          <a:prstGeom prst="rect">
            <a:avLst/>
          </a:prstGeom>
          <a:noFill/>
        </p:spPr>
        <p:txBody>
          <a:bodyPr wrap="square">
            <a:spAutoFit/>
          </a:bodyPr>
          <a:lstStyle/>
          <a:p>
            <a:pPr>
              <a:spcAft>
                <a:spcPts val="800"/>
              </a:spcAft>
            </a:pPr>
            <a:r>
              <a:rPr sz="3000" b="1">
                <a:solidFill>
                  <a:srgbClr val="14213D"/>
                </a:solidFill>
                <a:latin typeface="Arial"/>
              </a:rPr>
              <a:t>Two different failures, not one</a:t>
            </a:r>
          </a:p>
        </p:txBody>
      </p:sp>
      <p:sp>
        <p:nvSpPr>
          <p:cNvPr id="3" name="TextBox 2"/>
          <p:cNvSpPr txBox="1"/>
          <p:nvPr/>
        </p:nvSpPr>
        <p:spPr>
          <a:xfrm>
            <a:off x="548640" y="1188720"/>
            <a:ext cx="11064240" cy="5120640"/>
          </a:xfrm>
          <a:prstGeom prst="rect">
            <a:avLst/>
          </a:prstGeom>
          <a:noFill/>
        </p:spPr>
        <p:txBody>
          <a:bodyPr wrap="square">
            <a:spAutoFit/>
          </a:bodyPr>
          <a:lstStyle/>
          <a:p>
            <a:pPr>
              <a:spcAft>
                <a:spcPts val="800"/>
              </a:spcAft>
            </a:pPr>
            <a:r>
              <a:rPr sz="2200" b="0">
                <a:solidFill>
                  <a:srgbClr val="4A5568"/>
                </a:solidFill>
                <a:latin typeface="Arial"/>
              </a:rPr>
              <a:t>Failure 1 comes from the NOTE: an instruction is read but not applied → a stopped drug stays.</a:t>
            </a:r>
          </a:p>
          <a:p>
            <a:pPr>
              <a:spcAft>
                <a:spcPts val="800"/>
              </a:spcAft>
            </a:pPr>
            <a:r>
              <a:rPr sz="2200" b="0">
                <a:solidFill>
                  <a:srgbClr val="4A5568"/>
                </a:solidFill>
                <a:latin typeface="Arial"/>
              </a:rPr>
              <a:t>Failure 2 comes from the PROMPT: no instruction involved; the example pushes out a real drug → an active drug vanishes.</a:t>
            </a:r>
          </a:p>
          <a:p>
            <a:pPr>
              <a:spcAft>
                <a:spcPts val="800"/>
              </a:spcAft>
            </a:pPr>
            <a:r>
              <a:rPr sz="2200" b="0">
                <a:solidFill>
                  <a:srgbClr val="4A5568"/>
                </a:solidFill>
                <a:latin typeface="Arial"/>
              </a:rPr>
              <a:t>Different fixes: removing the example erases Failure 2, but Failure 1 stays at 47% with a reworded, example-free prompt.</a:t>
            </a:r>
          </a:p>
          <a:p>
            <a:pPr>
              <a:spcAft>
                <a:spcPts val="800"/>
              </a:spcAft>
            </a:pPr>
            <a:r>
              <a:rPr sz="2200" b="0">
                <a:solidFill>
                  <a:srgbClr val="4A5568"/>
                </a:solidFill>
                <a:latin typeface="Arial"/>
              </a:rPr>
              <a:t>Different models: Failure 1 also in gpt-5.4-mini (6%); Failure 2 only in the small model (gpt 0/58).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822960"/>
          </a:xfrm>
          <a:prstGeom prst="rect">
            <a:avLst/>
          </a:prstGeom>
          <a:noFill/>
        </p:spPr>
        <p:txBody>
          <a:bodyPr wrap="square">
            <a:spAutoFit/>
          </a:bodyPr>
          <a:lstStyle/>
          <a:p>
            <a:pPr>
              <a:spcAft>
                <a:spcPts val="800"/>
              </a:spcAft>
            </a:pPr>
            <a:r>
              <a:rPr sz="3000" b="1">
                <a:solidFill>
                  <a:srgbClr val="14213D"/>
                </a:solidFill>
                <a:latin typeface="Arial"/>
              </a:rPr>
              <a:t>What I tried that did not fail, and bugs I fixed</a:t>
            </a:r>
          </a:p>
        </p:txBody>
      </p:sp>
      <p:sp>
        <p:nvSpPr>
          <p:cNvPr id="3" name="TextBox 2"/>
          <p:cNvSpPr txBox="1"/>
          <p:nvPr/>
        </p:nvSpPr>
        <p:spPr>
          <a:xfrm>
            <a:off x="548640" y="1188720"/>
            <a:ext cx="11064240" cy="5120640"/>
          </a:xfrm>
          <a:prstGeom prst="rect">
            <a:avLst/>
          </a:prstGeom>
          <a:noFill/>
        </p:spPr>
        <p:txBody>
          <a:bodyPr wrap="square">
            <a:spAutoFit/>
          </a:bodyPr>
          <a:lstStyle/>
          <a:p>
            <a:pPr>
              <a:spcAft>
                <a:spcPts val="800"/>
              </a:spcAft>
            </a:pPr>
            <a:r>
              <a:rPr sz="1900" b="0">
                <a:solidFill>
                  <a:srgbClr val="4A5568"/>
                </a:solidFill>
                <a:latin typeface="Arial"/>
              </a:rPr>
              <a:t>Allergy leak: drug named only under ALLERGIES → never put on the list (gpt-5.4-mini 0/20; real notes 0/51).</a:t>
            </a:r>
          </a:p>
          <a:p>
            <a:pPr>
              <a:spcAft>
                <a:spcPts val="800"/>
              </a:spcAft>
            </a:pPr>
            <a:r>
              <a:rPr sz="1900" b="0">
                <a:solidFill>
                  <a:srgbClr val="4A5568"/>
                </a:solidFill>
                <a:latin typeface="Arial"/>
              </a:rPr>
              <a:t>“Check for stops” reminder: 42% → 32%, p = 0.13, not a reliable fix.</a:t>
            </a:r>
          </a:p>
          <a:p>
            <a:pPr>
              <a:spcAft>
                <a:spcPts val="800"/>
              </a:spcAft>
            </a:pPr>
            <a:r>
              <a:rPr sz="1900" b="0">
                <a:solidFill>
                  <a:srgbClr val="4A5568"/>
                </a:solidFill>
                <a:latin typeface="Arial"/>
              </a:rPr>
              <a:t>Failure 2 on gpt-5.4-mini: 0/58, so it’s a small-model failure.</a:t>
            </a:r>
          </a:p>
          <a:p>
            <a:pPr>
              <a:spcAft>
                <a:spcPts val="800"/>
              </a:spcAft>
            </a:pPr>
            <a:r>
              <a:rPr sz="1900" b="0">
                <a:solidFill>
                  <a:srgbClr val="4A5568"/>
                </a:solidFill>
                <a:latin typeface="Arial"/>
              </a:rPr>
              <a:t>Bugs found and fixed before final runs: Ollama silently cut prompts at 4,096 tokens; allergy picker could choose a drug already in the note under a brand name. Pilot outputs archived, not used.</a:t>
            </a:r>
          </a:p>
          <a:p>
            <a:pPr>
              <a:spcAft>
                <a:spcPts val="800"/>
              </a:spcAft>
            </a:pPr>
            <a:r>
              <a:rPr sz="1900" b="0">
                <a:solidFill>
                  <a:srgbClr val="4A5568"/>
                </a:solidFill>
                <a:latin typeface="Arial"/>
              </a:rPr>
              <a:t>Checks: every Failure 1 error read by hand; 0/577 “removed” outputs hid a misspelled drug; results hold without example-drug targets and without notes that list a drug twice.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822960"/>
          </a:xfrm>
          <a:prstGeom prst="rect">
            <a:avLst/>
          </a:prstGeom>
          <a:noFill/>
        </p:spPr>
        <p:txBody>
          <a:bodyPr wrap="square">
            <a:spAutoFit/>
          </a:bodyPr>
          <a:lstStyle/>
          <a:p>
            <a:pPr>
              <a:spcAft>
                <a:spcPts val="800"/>
              </a:spcAft>
            </a:pPr>
            <a:r>
              <a:rPr sz="3000" b="1">
                <a:solidFill>
                  <a:srgbClr val="14213D"/>
                </a:solidFill>
                <a:latin typeface="Arial"/>
              </a:rPr>
              <a:t>Limits and what I’d do next</a:t>
            </a:r>
          </a:p>
        </p:txBody>
      </p:sp>
      <p:sp>
        <p:nvSpPr>
          <p:cNvPr id="3" name="TextBox 2"/>
          <p:cNvSpPr txBox="1"/>
          <p:nvPr/>
        </p:nvSpPr>
        <p:spPr>
          <a:xfrm>
            <a:off x="548640" y="1188720"/>
            <a:ext cx="11064240" cy="2841804"/>
          </a:xfrm>
          <a:prstGeom prst="rect">
            <a:avLst/>
          </a:prstGeom>
          <a:noFill/>
        </p:spPr>
        <p:txBody>
          <a:bodyPr wrap="square">
            <a:spAutoFit/>
          </a:bodyPr>
          <a:lstStyle/>
          <a:p>
            <a:pPr>
              <a:spcAft>
                <a:spcPts val="800"/>
              </a:spcAft>
            </a:pPr>
            <a:r>
              <a:rPr sz="1900" b="0">
                <a:solidFill>
                  <a:srgbClr val="4A5568"/>
                </a:solidFill>
                <a:latin typeface="Arial"/>
              </a:rPr>
              <a:t>Limits: synthetic edits show cause, not frequency. MTSamples is not a discharge cohort. 50–60 notes per test (CI about ±13 points). One small open model plus one API model.</a:t>
            </a:r>
          </a:p>
          <a:p>
            <a:pPr>
              <a:spcAft>
                <a:spcPts val="800"/>
              </a:spcAft>
            </a:pPr>
            <a:r>
              <a:rPr sz="1900" b="0">
                <a:solidFill>
                  <a:srgbClr val="4A5568"/>
                </a:solidFill>
                <a:latin typeface="Arial"/>
              </a:rPr>
              <a:t>Next 1: MIMIC-IV discharge summaries to size how often stop instructions and long lists occur.</a:t>
            </a:r>
          </a:p>
          <a:p>
            <a:pPr>
              <a:spcAft>
                <a:spcPts val="800"/>
              </a:spcAft>
            </a:pPr>
            <a:r>
              <a:rPr sz="1900" b="0">
                <a:solidFill>
                  <a:srgbClr val="4A5568"/>
                </a:solidFill>
                <a:latin typeface="Arial"/>
              </a:rPr>
              <a:t>Next 2: turn both failures into eval rubric items (every stop applied, every active drug kept, nothing invented) with clinician references.</a:t>
            </a:r>
          </a:p>
          <a:p>
            <a:pPr>
              <a:spcAft>
                <a:spcPts val="800"/>
              </a:spcAft>
            </a:pPr>
            <a:r>
              <a:rPr sz="1900" b="0">
                <a:solidFill>
                  <a:srgbClr val="4A5568"/>
                </a:solidFill>
                <a:latin typeface="Arial"/>
              </a:rPr>
              <a:t>Next 3: mechanism depth, with attention/attribution during list writing and a size ladder (3B, 7B, 14B).</a:t>
            </a:r>
          </a:p>
          <a:p>
            <a:pPr>
              <a:spcAft>
                <a:spcPts val="800"/>
              </a:spcAft>
            </a:pPr>
            <a:r>
              <a:rPr sz="1900" b="0">
                <a:solidFill>
                  <a:srgbClr val="4A5568"/>
                </a:solidFill>
                <a:latin typeface="Arial"/>
              </a:rPr>
              <a:t>Reproduce: bash run_all.sh rebuilds every number from cached outputs. AI use: Claude helped with code </a:t>
            </a:r>
            <a:r>
              <a:rPr lang="en-US" sz="1900" b="0">
                <a:solidFill>
                  <a:srgbClr val="4A5568"/>
                </a:solidFill>
                <a:latin typeface="Arial"/>
              </a:rPr>
              <a:t>debug </a:t>
            </a:r>
            <a:r>
              <a:rPr sz="1900" b="0">
                <a:solidFill>
                  <a:srgbClr val="4A5568"/>
                </a:solidFill>
                <a:latin typeface="Arial"/>
              </a:rPr>
              <a:t>and drafting; all scoring is rule-based.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1277</Words>
  <Application>Microsoft Macintosh PowerPoint</Application>
  <PresentationFormat>Widescreen</PresentationFormat>
  <Paragraphs>53</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Himani Alpesh Shah</cp:lastModifiedBy>
  <cp:revision>2</cp:revision>
  <dcterms:created xsi:type="dcterms:W3CDTF">2013-01-27T09:14:16Z</dcterms:created>
  <dcterms:modified xsi:type="dcterms:W3CDTF">2026-10-28T05:37:57Z</dcterms:modified>
  <cp:category/>
</cp:coreProperties>
</file>